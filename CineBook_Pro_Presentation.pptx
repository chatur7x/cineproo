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  <a:p>
            <a:pPr>
              <a:spcAft>
                <a:spcPts val="2800"/>
              </a:spcAft>
              <a:defRPr sz="2400">
                <a:solidFill>
                  <a:srgbClr val="F5F5FA"/>
                </a:solidFill>
                <a:latin typeface="Arial"/>
              </a:defRPr>
            </a:pPr>
            <a:r>
              <a:t>An Integrated Multi-Language Movie Ticketing</a:t>
            </a:r>
            <a:br/>
            <a:r>
              <a:t>&amp; Security Architecture</a:t>
            </a:r>
          </a:p>
          <a:p>
            <a:pPr>
              <a:defRPr sz="1300">
                <a:solidFill>
                  <a:srgbClr val="787887"/>
                </a:solidFill>
                <a:latin typeface="Arial"/>
              </a:defRPr>
            </a:pPr>
            <a:r>
              <a:t>Internship Project Presentation  •  Department of Cyber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4B363"/>
                </a:solidFill>
                <a:latin typeface="Arial"/>
              </a:defRPr>
            </a:pPr>
            <a:r>
              <a:t>Submitted by</a:t>
            </a:r>
          </a:p>
          <a:p>
            <a:pPr>
              <a:defRPr sz="1200">
                <a:solidFill>
                  <a:srgbClr val="B4B4BE"/>
                </a:solidFill>
                <a:latin typeface="Arial"/>
              </a:defRPr>
            </a:pPr>
            <a:r>
              <a:t>Kolluri Chaturvedhi Narsimha  •  24EG109A28</a:t>
            </a:r>
            <a:br/>
            <a:r>
              <a:t>Anurag University,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Arial"/>
              </a:defRPr>
            </a:pPr>
            <a:r>
              <a:t>Project Overview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4B4BE"/>
                </a:solidFill>
                <a:latin typeface="Arial"/>
              </a:defRPr>
            </a:pPr>
            <a:r>
              <a:t>Four distinct technology layers orchestrated into a unified cinema ticketing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4B363"/>
                </a:solidFill>
                <a:latin typeface="Arial"/>
              </a:defRPr>
            </a:pPr>
            <a:r>
              <a:t>TECHNOLOGY DETAILS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React (Host SPA)  </a:t>
            </a:r>
            <a:r>
              <a:rPr sz="1100" b="0">
                <a:solidFill>
                  <a:srgbClr val="B4B4BE"/>
                </a:solidFill>
                <a:latin typeface="Arial"/>
              </a:rPr>
              <a:t>Manages global state via Context API, hash-change routing, and interactive 3D seat animations with frosted-glass UI panels.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Vue.js (Widgets)  </a:t>
            </a:r>
            <a:r>
              <a:rPr sz="1100" b="0">
                <a:solidFill>
                  <a:srgbClr val="B4B4BE"/>
                </a:solidFill>
                <a:latin typeface="Arial"/>
              </a:rPr>
              <a:t>Micro-containers mounted inside React DOM refs for modular card checkout forms and password audit consoles.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Java (Security)  </a:t>
            </a:r>
            <a:r>
              <a:rPr sz="1100" b="0">
                <a:solidFill>
                  <a:srgbClr val="B4B4BE"/>
                </a:solidFill>
                <a:latin typeface="Arial"/>
              </a:rPr>
              <a:t>Luhn's card validation, private-field OOP encapsulation, ArrayList memory tracking, BufferedWriter logging, and synchronized thread locks.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Python (Auditor)  </a:t>
            </a:r>
            <a:r>
              <a:rPr sz="1100" b="0">
                <a:solidFill>
                  <a:srgbClr val="B4B4BE"/>
                </a:solidFill>
                <a:latin typeface="Arial"/>
              </a:rPr>
              <a:t>Password audit layer deriving concrete rules from an abstract base class. CLI console emulator with Matplotlib stats.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AI &amp; Prompt Engineering  </a:t>
            </a:r>
            <a:r>
              <a:rPr sz="1100" b="0">
                <a:solidFill>
                  <a:srgbClr val="B4B4BE"/>
                </a:solidFill>
                <a:latin typeface="Arial"/>
              </a:rPr>
              <a:t>Utilized AI prompts for code debugging, architecture design optimization, and automated documentation generation.</a:t>
            </a:r>
          </a:p>
        </p:txBody>
      </p:sp>
      <p:pic>
        <p:nvPicPr>
          <p:cNvPr id="6" name="Picture 5" descr="01_hom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Arial"/>
              </a:defRPr>
            </a:pPr>
            <a:r>
              <a:t>System Component Architecture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486400" cy="44786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52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787887"/>
                </a:solidFill>
                <a:latin typeface="Arial"/>
              </a:defRPr>
            </a:pPr>
            <a:r>
              <a:t>Fig 2.1 — CineBook Multi-Language Component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4B363"/>
                </a:solidFill>
                <a:latin typeface="Arial"/>
              </a:defRPr>
            </a:pPr>
            <a:r>
              <a:t>COMPONENT LAYERS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Frontend Client Layer  </a:t>
            </a:r>
            <a:r>
              <a:rPr sz="1100" b="0">
                <a:solidFill>
                  <a:srgbClr val="B4B4BE"/>
                </a:solidFill>
                <a:latin typeface="Arial"/>
              </a:rPr>
              <a:t>React SPA with hash routing and context store. Vue containers mounted dynamically for checkout and audit widgets.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Java Security Layer  </a:t>
            </a:r>
            <a:r>
              <a:rPr sz="1100" b="0">
                <a:solidFill>
                  <a:srgbClr val="B4B4BE"/>
                </a:solidFill>
                <a:latin typeface="Arial"/>
              </a:rPr>
              <a:t>OOP encapsulation with Luhn's checksum validation, ArrayList object tracking, BufferedWriter disk logging, and mutex seat locks.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Python Audit Layer  </a:t>
            </a:r>
            <a:r>
              <a:rPr sz="1100" b="0">
                <a:solidFill>
                  <a:srgbClr val="B4B4BE"/>
                </a:solidFill>
                <a:latin typeface="Arial"/>
              </a:rPr>
              <a:t>Abstract PasswordCheck base class with polymorphic rule derivation. CLI parser and Matplotlib canvas charts.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Data &amp; Storage  </a:t>
            </a:r>
            <a:r>
              <a:rPr sz="1100" b="0">
                <a:solidFill>
                  <a:srgbClr val="B4B4BE"/>
                </a:solidFill>
                <a:latin typeface="Arial"/>
              </a:rPr>
              <a:t>Browser LocalStorage for bookings and sessions. Java file I/O writes card validation logs to cards.dat on disk.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Arial"/>
              </a:defRPr>
            </a:pPr>
            <a:r>
              <a:t>End-to-End Booking Sequence Flow</a:t>
            </a:r>
          </a:p>
        </p:txBody>
      </p:sp>
      <p:pic>
        <p:nvPicPr>
          <p:cNvPr id="4" name="Picture 3" descr="booking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486400" cy="5963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52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787887"/>
                </a:solidFill>
                <a:latin typeface="Arial"/>
              </a:defRPr>
            </a:pPr>
            <a:r>
              <a:t>Fig 2.2 — End-to-End Booking Validation &amp; Security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4B363"/>
                </a:solidFill>
                <a:latin typeface="Arial"/>
              </a:defRPr>
            </a:pPr>
            <a:r>
              <a:t>TRANSACTION PHASES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Phase 1 — Seat Lock  </a:t>
            </a:r>
            <a:r>
              <a:rPr sz="1100" b="0">
                <a:solidFill>
                  <a:srgbClr val="B4B4BE"/>
                </a:solidFill>
                <a:latin typeface="Arial"/>
              </a:rPr>
              <a:t>Thread-0 acquires a synchronized mutex, locking selected seat coordinates for 5 minutes to prevent double-bookings.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Phase 2 — Card Validation  </a:t>
            </a:r>
            <a:r>
              <a:rPr sz="1100" b="0">
                <a:solidFill>
                  <a:srgbClr val="B4B4BE"/>
                </a:solidFill>
                <a:latin typeface="Arial"/>
              </a:rPr>
              <a:t>Vue checkout collects card details. Luhn's mod-10 checksum validates digits. Valid cards tracked in ArrayList and logged to disk.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Phase 3 — Security Audit  </a:t>
            </a:r>
            <a:r>
              <a:rPr sz="1100" b="0">
                <a:solidFill>
                  <a:srgbClr val="B4B4BE"/>
                </a:solidFill>
                <a:latin typeface="Arial"/>
              </a:rPr>
              <a:t>Dual validation: Java Weak/Strong classification + Python abstract auditor running LengthCheck, ComplexityCheck, PatternCheck rules.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Phase 4 — Ticket Issue  </a:t>
            </a:r>
            <a:r>
              <a:rPr sz="1100" b="0">
                <a:solidFill>
                  <a:srgbClr val="B4B4BE"/>
                </a:solidFill>
                <a:latin typeface="Arial"/>
              </a:rPr>
              <a:t>6-digit OTP verification → booking saved to LocalStorage → 3D parallax ticket with SVG QR code and scan verification generated.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Arial"/>
              </a:defRPr>
            </a:pPr>
            <a:r>
              <a:t>React &amp; Vue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572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4B363"/>
                </a:solidFill>
                <a:latin typeface="Arial"/>
              </a:defRPr>
            </a:pPr>
            <a:r>
              <a:t>HOW IT WORKS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React DOM Wrapper  </a:t>
            </a:r>
            <a:r>
              <a:rPr sz="1100" b="0">
                <a:solidFill>
                  <a:srgbClr val="B4B4BE"/>
                </a:solidFill>
                <a:latin typeface="Arial"/>
              </a:rPr>
              <a:t>A ref-backed container div is rendered by React, holding the mount point for Vue instances.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Vue Lifecycle  </a:t>
            </a:r>
            <a:r>
              <a:rPr sz="1100" b="0">
                <a:solidFill>
                  <a:srgbClr val="B4B4BE"/>
                </a:solidFill>
                <a:latin typeface="Arial"/>
              </a:rPr>
              <a:t>Inside useEffect, createApp() initializes the Vue widget and mounts it. On cleanup, app.unmount() frees memory.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State Bridge  </a:t>
            </a:r>
            <a:r>
              <a:rPr sz="1100" b="0">
                <a:solidFill>
                  <a:srgbClr val="B4B4BE"/>
                </a:solidFill>
                <a:latin typeface="Arial"/>
              </a:rPr>
              <a:t>Custom browser events (dispatchEvent) synchronize seat counts and invoice data across frameworks.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645920"/>
            <a:ext cx="5852160" cy="4389120"/>
          </a:xfrm>
          <a:prstGeom prst="rect">
            <a:avLst/>
          </a:prstGeom>
          <a:solidFill>
            <a:srgbClr val="0C0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1645920"/>
            <a:ext cx="5852160" cy="4389120"/>
          </a:xfrm>
          <a:prstGeom prst="rect">
            <a:avLst/>
          </a:prstGeom>
          <a:noFill/>
        </p:spPr>
        <p:txBody>
          <a:bodyPr wrap="square" lIns="203200" rIns="203200" tIns="177800" bIns="177800">
            <a:spAutoFit/>
          </a:bodyPr>
          <a:lstStyle/>
          <a:p>
            <a:pPr>
              <a:lnSpc>
                <a:spcPts val="1700"/>
              </a:lnSpc>
              <a:defRPr sz="1050">
                <a:solidFill>
                  <a:srgbClr val="DCDCE6"/>
                </a:solidFill>
                <a:latin typeface="Consolas"/>
              </a:defRPr>
            </a:pPr>
            <a:r>
              <a:t>// React component mounting a Vue widget</a:t>
            </a:r>
            <a:br/>
            <a:r>
              <a:t>const VueWrapper = () =&gt; {</a:t>
            </a:r>
            <a:br/>
            <a:r>
              <a:t>  const containerRef = useRef(null);</a:t>
            </a:r>
            <a:br/>
            <a:br/>
            <a:r>
              <a:t>  useEffect(() =&gt; {</a:t>
            </a:r>
            <a:br/>
            <a:r>
              <a:t>    // Create and mount Vue app instance</a:t>
            </a:r>
            <a:br/>
            <a:r>
              <a:t>    const app = createApp(CardCheckout);</a:t>
            </a:r>
            <a:br/>
            <a:r>
              <a:t>    app.mount(containerRef.current);</a:t>
            </a:r>
            <a:br/>
            <a:br/>
            <a:r>
              <a:t>    return () =&gt; {</a:t>
            </a:r>
            <a:br/>
            <a:r>
              <a:t>      app.unmount(); // Cleanup on unmount</a:t>
            </a:r>
            <a:br/>
            <a:r>
              <a:t>    };</a:t>
            </a:r>
            <a:br/>
            <a:r>
              <a:t>  }, []);</a:t>
            </a:r>
            <a:br/>
            <a:br/>
            <a:r>
              <a:t>  return &lt;div ref={containerRef} /&gt;;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Arial"/>
              </a:defRPr>
            </a:pPr>
            <a:r>
              <a:t>Java Security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03520" cy="4389120"/>
          </a:xfrm>
          <a:prstGeom prst="rect">
            <a:avLst/>
          </a:prstGeom>
          <a:solidFill>
            <a:srgbClr val="0C0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303520" cy="4389120"/>
          </a:xfrm>
          <a:prstGeom prst="rect">
            <a:avLst/>
          </a:prstGeom>
          <a:noFill/>
        </p:spPr>
        <p:txBody>
          <a:bodyPr wrap="square" lIns="203200" rIns="203200" tIns="177800" bIns="177800">
            <a:spAutoFit/>
          </a:bodyPr>
          <a:lstStyle/>
          <a:p>
            <a:pPr>
              <a:lnSpc>
                <a:spcPts val="1700"/>
              </a:lnSpc>
              <a:defRPr sz="1050">
                <a:solidFill>
                  <a:srgbClr val="DCDCE6"/>
                </a:solidFill>
                <a:latin typeface="Consolas"/>
              </a:defRPr>
            </a:pPr>
            <a:r>
              <a:t>// Luhn Algorithm — Card Validation</a:t>
            </a:r>
            <a:br/>
            <a:r>
              <a:t>public boolean checkLuhn(String cardNo) {</a:t>
            </a:r>
            <a:br/>
            <a:r>
              <a:t>    int nDigits = cardNo.length();</a:t>
            </a:r>
            <a:br/>
            <a:r>
              <a:t>    int nSum = 0;</a:t>
            </a:r>
            <a:br/>
            <a:r>
              <a:t>    boolean isSecond = false;</a:t>
            </a:r>
            <a:br/>
            <a:br/>
            <a:r>
              <a:t>    for (int i = nDigits - 1; i &gt;= 0; i--) {</a:t>
            </a:r>
            <a:br/>
            <a:r>
              <a:t>        int d = cardNo.charAt(i) - '0';</a:t>
            </a:r>
            <a:br/>
            <a:r>
              <a:t>        if (isSecond) d = d * 2;</a:t>
            </a:r>
            <a:br/>
            <a:r>
              <a:t>        nSum += d / 10;</a:t>
            </a:r>
            <a:br/>
            <a:r>
              <a:t>        nSum += d % 10;</a:t>
            </a:r>
            <a:br/>
            <a:r>
              <a:t>        isSecond = !isSecond;</a:t>
            </a:r>
            <a:br/>
            <a:r>
              <a:t>    }</a:t>
            </a:r>
            <a:br/>
            <a:r>
              <a:t>    return (nSum % 10 == 0);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4B363"/>
                </a:solidFill>
                <a:latin typeface="Arial"/>
              </a:defRPr>
            </a:pPr>
            <a:r>
              <a:t>CORE JAVA CONCEPTS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Luhn Check Algorithm  </a:t>
            </a:r>
            <a:r>
              <a:rPr sz="1100" b="0">
                <a:solidFill>
                  <a:srgbClr val="B4B4BE"/>
                </a:solidFill>
                <a:latin typeface="Arial"/>
              </a:rPr>
              <a:t>Executes mod-10 double-every-second digit sum validations on inputs to prevent fake or invalid card numbers.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OOP Encapsulation  </a:t>
            </a:r>
            <a:r>
              <a:rPr sz="1100" b="0">
                <a:solidFill>
                  <a:srgbClr val="B4B4BE"/>
                </a:solidFill>
                <a:latin typeface="Arial"/>
              </a:rPr>
              <a:t>Strictly keeps attributes private, accessing them via clean getter/setter objects to block arbitrary edits.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ArrayList Tracking  </a:t>
            </a:r>
            <a:r>
              <a:rPr sz="1100" b="0">
                <a:solidFill>
                  <a:srgbClr val="B4B4BE"/>
                </a:solidFill>
                <a:latin typeface="Arial"/>
              </a:rPr>
              <a:t>Stores validated Card instances to memory dynamically, mapping object heap locations to console logs.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BufferedWriter I/O  </a:t>
            </a:r>
            <a:r>
              <a:rPr sz="1100" b="0">
                <a:solidFill>
                  <a:srgbClr val="B4B4BE"/>
                </a:solidFill>
                <a:latin typeface="Arial"/>
              </a:rPr>
              <a:t>Streams transaction logs out to cards.dat on disk using Java's file output stream, securing records permanently.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Thread Synchronization  </a:t>
            </a:r>
            <a:r>
              <a:rPr sz="1100" b="0">
                <a:solidFill>
                  <a:srgbClr val="B4B4BE"/>
                </a:solidFill>
                <a:latin typeface="Arial"/>
              </a:rPr>
              <a:t>Synchronized blocks on Thread-0 acquire mutex locks on seat coordinates, preventing concurrent double-bookings.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Arial"/>
              </a:defRPr>
            </a:pPr>
            <a:r>
              <a:t>Python Audit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572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4B363"/>
                </a:solidFill>
                <a:latin typeface="Arial"/>
              </a:defRPr>
            </a:pPr>
            <a:r>
              <a:t>AUDIT ARCHITECTURE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Abstract Base Class  </a:t>
            </a:r>
            <a:r>
              <a:rPr sz="1100" b="0">
                <a:solidFill>
                  <a:srgbClr val="B4B4BE"/>
                </a:solidFill>
                <a:latin typeface="Arial"/>
              </a:rPr>
              <a:t>PasswordCheck defines an abstract validate() method. Concrete subclasses override it with specific checking rules.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Regex Pattern Scanning  </a:t>
            </a:r>
            <a:r>
              <a:rPr sz="1100" b="0">
                <a:solidFill>
                  <a:srgbClr val="B4B4BE"/>
                </a:solidFill>
                <a:latin typeface="Arial"/>
              </a:rPr>
              <a:t>Regular expressions detect repeated sequences, missing character classes (uppercase, digits, specials), and dictionary words.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Matplotlib Visualization  </a:t>
            </a:r>
            <a:r>
              <a:rPr sz="1100" b="0">
                <a:solidFill>
                  <a:srgbClr val="B4B4BE"/>
                </a:solidFill>
                <a:latin typeface="Arial"/>
              </a:rPr>
              <a:t>Audit scores compiled into a bar chart rendered as PNG, embedded into the app's HTML5 canvas for dashboard display.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645920"/>
            <a:ext cx="5852160" cy="4572000"/>
          </a:xfrm>
          <a:prstGeom prst="rect">
            <a:avLst/>
          </a:prstGeom>
          <a:solidFill>
            <a:srgbClr val="0C0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1645920"/>
            <a:ext cx="5852160" cy="4572000"/>
          </a:xfrm>
          <a:prstGeom prst="rect">
            <a:avLst/>
          </a:prstGeom>
          <a:noFill/>
        </p:spPr>
        <p:txBody>
          <a:bodyPr wrap="square" lIns="203200" rIns="203200" tIns="177800" bIns="177800">
            <a:spAutoFit/>
          </a:bodyPr>
          <a:lstStyle/>
          <a:p>
            <a:pPr>
              <a:lnSpc>
                <a:spcPts val="1700"/>
              </a:lnSpc>
              <a:defRPr sz="1050">
                <a:solidFill>
                  <a:srgbClr val="DCDCE6"/>
                </a:solidFill>
                <a:latin typeface="Consolas"/>
              </a:defRPr>
            </a:pPr>
            <a:r>
              <a:t>from abc import ABC, abstractmethod</a:t>
            </a:r>
            <a:br/>
            <a:br/>
            <a:r>
              <a:t>class PasswordCheck(ABC):</a:t>
            </a:r>
            <a:br/>
            <a:r>
              <a:t>    @abstractmethod</a:t>
            </a:r>
            <a:br/>
            <a:r>
              <a:t>    def validate(self, pwd: str) -&gt; bool:</a:t>
            </a:r>
            <a:br/>
            <a:r>
              <a:t>        pass</a:t>
            </a:r>
            <a:br/>
            <a:br/>
            <a:r>
              <a:t>class LengthCheck(PasswordCheck):</a:t>
            </a:r>
            <a:br/>
            <a:r>
              <a:t>    def validate(self, pwd: str) -&gt; bool:</a:t>
            </a:r>
            <a:br/>
            <a:r>
              <a:t>        return len(pwd) &gt;= 8</a:t>
            </a:r>
            <a:br/>
            <a:br/>
            <a:r>
              <a:t>class ComplexityCheck(PasswordCheck):</a:t>
            </a:r>
            <a:br/>
            <a:r>
              <a:t>    def validate(self, pwd: str) -&gt; bool:</a:t>
            </a:r>
            <a:br/>
            <a:r>
              <a:t>        return bool(</a:t>
            </a:r>
            <a:br/>
            <a:r>
              <a:t>            re.search(r'[A-Z]', pwd) and</a:t>
            </a:r>
            <a:br/>
            <a:r>
              <a:t>            re.search(r'[0-9]', pwd) and</a:t>
            </a:r>
            <a:br/>
            <a:r>
              <a:t>            re.search(r'[!@#$%]', pwd)</a:t>
            </a:r>
            <a:br/>
            <a:r>
              <a:t>       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Arial"/>
              </a:defRPr>
            </a:pPr>
            <a:r>
              <a:t>Application Interface &amp; Features</a:t>
            </a:r>
          </a:p>
        </p:txBody>
      </p:sp>
      <p:pic>
        <p:nvPicPr>
          <p:cNvPr id="4" name="Picture 3" descr="01_hom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2651760" cy="1657350"/>
          </a:xfrm>
          <a:prstGeom prst="rect">
            <a:avLst/>
          </a:prstGeom>
        </p:spPr>
      </p:pic>
      <p:pic>
        <p:nvPicPr>
          <p:cNvPr id="5" name="Picture 4" descr="05_seat_map_selected_recomme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828800"/>
            <a:ext cx="2651760" cy="1657350"/>
          </a:xfrm>
          <a:prstGeom prst="rect">
            <a:avLst/>
          </a:prstGeom>
        </p:spPr>
      </p:pic>
      <p:pic>
        <p:nvPicPr>
          <p:cNvPr id="6" name="Picture 5" descr="09_vue_card_form_fil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2651760" cy="1657350"/>
          </a:xfrm>
          <a:prstGeom prst="rect">
            <a:avLst/>
          </a:prstGeom>
        </p:spPr>
      </p:pic>
      <p:pic>
        <p:nvPicPr>
          <p:cNvPr id="7" name="Picture 6" descr="13_ticket_3d_modal_unscann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931920"/>
            <a:ext cx="2651760" cy="1657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828800"/>
            <a:ext cx="4937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4B363"/>
                </a:solidFill>
                <a:latin typeface="Arial"/>
              </a:defRPr>
            </a:pPr>
            <a:r>
              <a:t>FEATURE HIGHLIGHTS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Home Screen  </a:t>
            </a:r>
            <a:r>
              <a:rPr sz="1100" b="0">
                <a:solidFill>
                  <a:srgbClr val="B4B4BE"/>
                </a:solidFill>
                <a:latin typeface="Arial"/>
              </a:rPr>
              <a:t>Frosted-glass movie cards with responsive grid layout, genre badges, ratings, and Apple HIG-inspired visual design.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3D Curved Seating Map  </a:t>
            </a:r>
            <a:r>
              <a:rPr sz="1100" b="0">
                <a:solidFill>
                  <a:srgbClr val="B4B4BE"/>
                </a:solidFill>
                <a:latin typeface="Arial"/>
              </a:rPr>
              <a:t>Interactive seat grid with quantity stepper sync, recommended seat algorithm, and 3D flip animations on selection.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Vue Card Checkout  </a:t>
            </a:r>
            <a:r>
              <a:rPr sz="1100" b="0">
                <a:solidFill>
                  <a:srgbClr val="B4B4BE"/>
                </a:solidFill>
                <a:latin typeface="Arial"/>
              </a:rPr>
              <a:t>Real-time Luhn validation, auto-formatting, demo presets (Visa/Mastercard/RuPay), and dual password audit.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Parallax 3D Ticket  </a:t>
            </a:r>
            <a:r>
              <a:rPr sz="1100" b="0">
                <a:solidFill>
                  <a:srgbClr val="B4B4BE"/>
                </a:solidFill>
                <a:latin typeface="Arial"/>
              </a:rPr>
              <a:t>Mouse-tracking perspective tilt, notched stub design, embedded SVG QR code, and click-to-verify scan animation.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Arial"/>
              </a:defRPr>
            </a:pPr>
            <a:r>
              <a:t>Technical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4B363"/>
                </a:solidFill>
                <a:latin typeface="Arial"/>
              </a:defRPr>
            </a:pPr>
            <a:r>
              <a:t>ENGINEERING MITIGATIONS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Double-Booking Race Condition  </a:t>
            </a:r>
            <a:r>
              <a:rPr sz="1100" b="0">
                <a:solidFill>
                  <a:srgbClr val="B4B4BE"/>
                </a:solidFill>
                <a:latin typeface="Arial"/>
              </a:rPr>
              <a:t>Challenge: Simultaneous booking attempts caused seat overlap conflicts.  |  Solution: Java synchronized blocks with Thread-0 mutex locks hold seats for 5 minutes, blocking concurrent access.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React-Vue DOM Collision  </a:t>
            </a:r>
            <a:r>
              <a:rPr sz="1100" b="0">
                <a:solidFill>
                  <a:srgbClr val="B4B4BE"/>
                </a:solidFill>
                <a:latin typeface="Arial"/>
              </a:rPr>
              <a:t>Challenge: Independent reactive frameworks caused lifecycle conflicts when mounted side-by-side.  |  Solution: Managed mount/unmount via React useRef + useEffect. Vue apps cleaned up on component destroy.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Exception Propagation  </a:t>
            </a:r>
            <a:r>
              <a:rPr sz="1100" b="0">
                <a:solidFill>
                  <a:srgbClr val="B4B4BE"/>
                </a:solidFill>
                <a:latin typeface="Arial"/>
              </a:rPr>
              <a:t>Challenge: Deep validation errors in Java/Python layers failed to surface in the frontend UI.  |  Solution: Structured custom exceptions with stack trace logging to sidebar console for real-time debugging.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200" b="1">
                <a:solidFill>
                  <a:srgbClr val="F5F5FA"/>
                </a:solidFill>
                <a:latin typeface="Arial"/>
              </a:rPr>
              <a:t>•  Multi-Language Integration  </a:t>
            </a:r>
            <a:r>
              <a:rPr sz="1100" b="0">
                <a:solidFill>
                  <a:srgbClr val="B4B4BE"/>
                </a:solidFill>
                <a:latin typeface="Arial"/>
              </a:rPr>
              <a:t>Challenge: Coordinating data flow across React, Vue, Java, and Python required careful interface design.  |  Solution: Custom browser events bridge state between frameworks; standardized JSON payloads for cross-language communication.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5600" b="1">
                <a:solidFill>
                  <a:srgbClr val="E4B363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Aft>
                <a:spcPts val="3200"/>
              </a:spcAft>
              <a:defRPr sz="1600">
                <a:solidFill>
                  <a:srgbClr val="B4B4BE"/>
                </a:solidFill>
                <a:latin typeface="Arial"/>
              </a:defRPr>
            </a:pPr>
            <a:r>
              <a:t>Questions about the hybrid architecture, security modules,</a:t>
            </a:r>
            <a:br/>
            <a:r>
              <a:t>code integration, or prompt engineering workflow?</a:t>
            </a:r>
          </a:p>
          <a:p>
            <a:pPr algn="ctr">
              <a:defRPr sz="1200">
                <a:solidFill>
                  <a:srgbClr val="787887"/>
                </a:solidFill>
                <a:latin typeface="Arial"/>
              </a:defRPr>
            </a:pPr>
            <a:r>
              <a:t>Kolluri Chaturvedhi Narsimha  •  24EG109A28  •  github.com/Chatur7x/CineProo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