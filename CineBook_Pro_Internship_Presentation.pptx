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  <a:p>
            <a:pPr>
              <a:spcAft>
                <a:spcPts val="2400"/>
              </a:spcAft>
              <a:defRPr sz="2200">
                <a:solidFill>
                  <a:srgbClr val="FFFFFF"/>
                </a:solidFill>
                <a:latin typeface="Arial"/>
              </a:defRPr>
            </a:pPr>
            <a:r>
              <a:t>A Hybrid Multi-Language Movie Ticketing &amp; Security Architecture</a:t>
            </a:r>
          </a:p>
          <a:p>
            <a:pPr>
              <a:defRPr sz="1400">
                <a:solidFill>
                  <a:srgbClr val="A0A0A0"/>
                </a:solidFill>
                <a:latin typeface="Arial"/>
              </a:defRPr>
            </a:pPr>
            <a:r>
              <a:t>Internship Project Presentation  |  Department of Cyber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754880"/>
            <a:ext cx="4389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200">
                <a:solidFill>
                  <a:srgbClr val="E4B363"/>
                </a:solidFill>
              </a:defRPr>
            </a:pPr>
            <a:r>
              <a:t>Submitted by:</a:t>
            </a:r>
          </a:p>
          <a:p>
            <a:pPr>
              <a:defRPr sz="1200">
                <a:solidFill>
                  <a:srgbClr val="DCDCDC"/>
                </a:solidFill>
              </a:defRPr>
            </a:pPr>
            <a:r>
              <a:t>Kolluri Chaturvedhi Narsimha</a:t>
            </a:r>
            <a:br/>
            <a:r>
              <a:t>HTNo: 24EG109A28</a:t>
            </a:r>
            <a:br/>
            <a:r>
              <a:t>Anurag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Overview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E4B363"/>
                </a:solidFill>
              </a:defRPr>
            </a:pPr>
            <a:r>
              <a:t>SYSTEM CONCEPT</a:t>
            </a:r>
          </a:p>
          <a:p>
            <a:pPr>
              <a:spcAft>
                <a:spcPts val="2000"/>
              </a:spcAft>
              <a:defRPr sz="1300">
                <a:solidFill>
                  <a:srgbClr val="DCDCDC"/>
                </a:solidFill>
              </a:defRPr>
            </a:pPr>
            <a:r>
              <a:t>CineBook Pro is designed to demonstrate multi-framework web orchestration coupled with native backend validation workflows. It mounts independent frontend frameworks side-by-side while utilizing robust multi-language backends to validate core ticketing details.</a:t>
            </a:r>
          </a:p>
          <a:p>
            <a:pPr>
              <a:spcAft>
                <a:spcPts val="800"/>
              </a:spcAft>
              <a:defRPr b="1" sz="1400">
                <a:solidFill>
                  <a:srgbClr val="E4B363"/>
                </a:solidFill>
              </a:defRPr>
            </a:pPr>
            <a:r>
              <a:t>KEY ATTRIBUTES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</a:defRPr>
            </a:pPr>
            <a:r>
              <a:t>• React-Vue frontend interoperability.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</a:defRPr>
            </a:pPr>
            <a:r>
              <a:t>• Java-based security &amp; memory visualization.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</a:defRPr>
            </a:pPr>
            <a:r>
              <a:t>• Python password strength classification.</a:t>
            </a:r>
          </a:p>
          <a:p>
            <a:pPr>
              <a:spcAft>
                <a:spcPts val="600"/>
              </a:spcAft>
              <a:defRPr sz="1200">
                <a:solidFill>
                  <a:srgbClr val="B4B4B4"/>
                </a:solidFill>
              </a:defRPr>
            </a:pPr>
            <a:r>
              <a:t>• AI-assisted prompt engineering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645920"/>
            <a:ext cx="53949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E4B363"/>
                </a:solidFill>
              </a:defRPr>
            </a:pPr>
            <a:r>
              <a:t>TECHNOLOGY DETAILS</a:t>
            </a:r>
          </a:p>
          <a:p>
            <a:pPr>
              <a:spcAft>
                <a:spcPts val="1200"/>
              </a:spcAft>
              <a:defRPr b="1" sz="1200">
                <a:solidFill>
                  <a:srgbClr val="FFFFFF"/>
                </a:solidFill>
              </a:defRPr>
            </a:pPr>
            <a:r>
              <a:t>React (Host SPA)  —  </a:t>
            </a:r>
            <a:r>
              <a:rPr b="0">
                <a:solidFill>
                  <a:srgbClr val="B4B4B4"/>
                </a:solidFill>
              </a:rPr>
              <a:t>Manages global state, routing, and interactive ticket stubs.</a:t>
            </a:r>
          </a:p>
          <a:p>
            <a:pPr>
              <a:spcAft>
                <a:spcPts val="1200"/>
              </a:spcAft>
              <a:defRPr b="1" sz="1200">
                <a:solidFill>
                  <a:srgbClr val="FFFFFF"/>
                </a:solidFill>
              </a:defRPr>
            </a:pPr>
            <a:r>
              <a:t>Vue.js (Widgets)  —  </a:t>
            </a:r>
            <a:r>
              <a:rPr b="0">
                <a:solidFill>
                  <a:srgbClr val="B4B4B4"/>
                </a:solidFill>
              </a:rPr>
              <a:t>Encapsulates modular UI cards and password audit screens.</a:t>
            </a:r>
          </a:p>
          <a:p>
            <a:pPr>
              <a:spcAft>
                <a:spcPts val="1200"/>
              </a:spcAft>
              <a:defRPr b="1" sz="1200">
                <a:solidFill>
                  <a:srgbClr val="FFFFFF"/>
                </a:solidFill>
              </a:defRPr>
            </a:pPr>
            <a:r>
              <a:t>Java (Security Engine)  —  </a:t>
            </a:r>
            <a:r>
              <a:rPr b="0">
                <a:solidFill>
                  <a:srgbClr val="B4B4B4"/>
                </a:solidFill>
              </a:rPr>
              <a:t>Executes Luhn validations, logs file operations, and runs thread locks.</a:t>
            </a:r>
          </a:p>
          <a:p>
            <a:pPr>
              <a:spcAft>
                <a:spcPts val="1200"/>
              </a:spcAft>
              <a:defRPr b="1" sz="1200">
                <a:solidFill>
                  <a:srgbClr val="FFFFFF"/>
                </a:solidFill>
              </a:defRPr>
            </a:pPr>
            <a:r>
              <a:t>Python (Auditor)  —  </a:t>
            </a:r>
            <a:r>
              <a:rPr b="0">
                <a:solidFill>
                  <a:srgbClr val="B4B4B4"/>
                </a:solidFill>
              </a:rPr>
              <a:t>Runs structural validations and generates statistical plots.</a:t>
            </a:r>
          </a:p>
          <a:p>
            <a:pPr>
              <a:spcAft>
                <a:spcPts val="1200"/>
              </a:spcAft>
              <a:defRPr b="1" sz="1200">
                <a:solidFill>
                  <a:srgbClr val="FFFFFF"/>
                </a:solidFill>
              </a:defRPr>
            </a:pPr>
            <a:r>
              <a:t>Prompt Engineering  —  </a:t>
            </a:r>
            <a:r>
              <a:rPr b="0">
                <a:solidFill>
                  <a:srgbClr val="B4B4B4"/>
                </a:solidFill>
              </a:rPr>
              <a:t>Utilized AI prompts to debug code and optimize database locking.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Component Architecture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18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E4B363"/>
                </a:solidFill>
              </a:defRPr>
            </a:pPr>
            <a:r>
              <a:t>COMPONENT ARCHITECTURE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React Host &amp; Vue Containers</a:t>
            </a:r>
            <a:br/>
            <a:r>
              <a:rPr b="0">
                <a:solidFill>
                  <a:srgbClr val="AAAAAA"/>
                </a:solidFill>
              </a:rPr>
              <a:t>The React host utilizes hash routing and context managers while dynamically mounting Vue checkout widgets in the container DOM.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Java Security Middleware</a:t>
            </a:r>
            <a:br/>
            <a:r>
              <a:rPr b="0">
                <a:solidFill>
                  <a:srgbClr val="AAAAAA"/>
                </a:solidFill>
              </a:rPr>
              <a:t>Implements Private encasing, card verification through Luhn's algorithm, transaction serialization via BufferedWriter, and concurrency checks.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Python Auditor &amp; Terminal Console</a:t>
            </a:r>
            <a:br/>
            <a:r>
              <a:rPr b="0">
                <a:solidFill>
                  <a:srgbClr val="AAAAAA"/>
                </a:solidFill>
              </a:rPr>
              <a:t>Derived password checking strategies from abstract parents, displaying evaluation stats on a dynamic Matplotlib chart.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File I/O &amp; Storage Layer</a:t>
            </a:r>
            <a:br/>
            <a:r>
              <a:rPr b="0">
                <a:solidFill>
                  <a:srgbClr val="AAAAAA"/>
                </a:solidFill>
              </a:rPr>
              <a:t>Tracks local session variables inside LocalStorage and stores credit details securely to disk in cards.dat.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End-to-End Booking Sequence Flow</a:t>
            </a:r>
          </a:p>
        </p:txBody>
      </p:sp>
      <p:pic>
        <p:nvPicPr>
          <p:cNvPr id="4" name="Picture 3" descr="booking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55662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E4B363"/>
                </a:solidFill>
              </a:defRPr>
            </a:pPr>
            <a:r>
              <a:t>TRANSACTIONAL PHASES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Phase 1: Seating Lock</a:t>
            </a:r>
            <a:br/>
            <a:r>
              <a:rPr b="0">
                <a:solidFill>
                  <a:srgbClr val="AAAAAA"/>
                </a:solidFill>
              </a:rPr>
              <a:t>A synchronized block launches Thread-0 on showtime selection, locking the coordinates for 5 minutes to avoid conflicts.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Phase 2: Card Verification</a:t>
            </a:r>
            <a:br/>
            <a:r>
              <a:rPr b="0">
                <a:solidFill>
                  <a:srgbClr val="AAAAAA"/>
                </a:solidFill>
              </a:rPr>
              <a:t>The Luhn validation checksum checks bank card details, recording verified structures to disk via BufferedWriter.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Phase 3: Security Audit</a:t>
            </a:r>
            <a:br/>
            <a:r>
              <a:rPr b="0">
                <a:solidFill>
                  <a:srgbClr val="AAAAAA"/>
                </a:solidFill>
              </a:rPr>
              <a:t>Validates password strengths. Java tracks simple length restrictions while Python computes entropy and displays charts.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Phase 4: Ticket Issue</a:t>
            </a:r>
            <a:br/>
            <a:r>
              <a:rPr b="0">
                <a:solidFill>
                  <a:srgbClr val="AAAAAA"/>
                </a:solidFill>
              </a:rPr>
              <a:t>Generates interactive 3D ticket stubs with embedded SVG QR codes, triggering validation confirmations on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Focus: React &amp; Vue 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E4B363"/>
                </a:solidFill>
              </a:defRPr>
            </a:pPr>
            <a:r>
              <a:t>INTEROPERABILITY DETAILS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React DOM Wrapper</a:t>
            </a:r>
            <a:br/>
            <a:r>
              <a:rPr b="0">
                <a:solidFill>
                  <a:srgbClr val="AAAAAA"/>
                </a:solidFill>
              </a:rPr>
              <a:t>React coordinates the global session state and mounts a wrapper div container. It manages component visibility and transitions.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Vue Widget Mounts</a:t>
            </a:r>
            <a:br/>
            <a:r>
              <a:rPr b="0">
                <a:solidFill>
                  <a:srgbClr val="AAAAAA"/>
                </a:solidFill>
              </a:rPr>
              <a:t>Inside React's lifecycle hooks, custom Vue apps are initialized and mounted to the ref wrappers. On unmounting, state cleanup is performed.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State Synchronization</a:t>
            </a:r>
            <a:br/>
            <a:r>
              <a:rPr b="0">
                <a:solidFill>
                  <a:srgbClr val="AAAAAA"/>
                </a:solidFill>
              </a:rPr>
              <a:t>Data is bridged using custom browser event listeners, synchronizing updates in seat counts and invoices between React and Vue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E4B363"/>
                </a:solidFill>
              </a:defRPr>
            </a:pPr>
            <a:r>
              <a:t>REACT LIFECYCLE MOUNTING CODE</a:t>
            </a:r>
          </a:p>
          <a:p>
            <a:pPr>
              <a:defRPr sz="1100">
                <a:solidFill>
                  <a:srgbClr val="F0F0F0"/>
                </a:solidFill>
                <a:latin typeface="Courier New"/>
              </a:defRPr>
            </a:pPr>
            <a:r>
              <a:t>// React component mounting Vue app</a:t>
            </a:r>
            <a:br/>
            <a:r>
              <a:t>const VueWrapper = () =&gt; {</a:t>
            </a:r>
            <a:br/>
            <a:r>
              <a:t>  const containerRef = useRef(null);</a:t>
            </a:r>
            <a:br/>
            <a:br/>
            <a:r>
              <a:t>  useEffect(() =&gt; {</a:t>
            </a:r>
            <a:br/>
            <a:r>
              <a:t>    // Create and mount Vue widget instance</a:t>
            </a:r>
            <a:br/>
            <a:r>
              <a:t>    const app = createApp(CardCheckout);</a:t>
            </a:r>
            <a:br/>
            <a:r>
              <a:t>    app.mount(containerRef.current);</a:t>
            </a:r>
            <a:br/>
            <a:br/>
            <a:r>
              <a:t>    return () =&gt; {</a:t>
            </a:r>
            <a:br/>
            <a:r>
              <a:t>      app.unmount(); // Unmount on clean up</a:t>
            </a:r>
            <a:br/>
            <a:r>
              <a:t>    };</a:t>
            </a:r>
            <a:br/>
            <a:r>
              <a:t>  }, []);</a:t>
            </a:r>
            <a:br/>
            <a:br/>
            <a:r>
              <a:t>  return &lt;div ref={containerRef} /&gt;;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Focus: Java Security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E4B363"/>
                </a:solidFill>
              </a:defRPr>
            </a:pPr>
            <a:r>
              <a:t>LUHN ALGORITHM CARD CHECK</a:t>
            </a:r>
          </a:p>
          <a:p>
            <a:pPr>
              <a:defRPr sz="1100">
                <a:solidFill>
                  <a:srgbClr val="F0F0F0"/>
                </a:solidFill>
                <a:latin typeface="Courier New"/>
              </a:defRPr>
            </a:pPr>
            <a:r>
              <a:t>public boolean checkLuhn(String cardNo) {</a:t>
            </a:r>
            <a:br/>
            <a:r>
              <a:t>    int nDigits = cardNo.length();</a:t>
            </a:r>
            <a:br/>
            <a:r>
              <a:t>    int nSum = 0; boolean isSecond = false;</a:t>
            </a:r>
            <a:br/>
            <a:r>
              <a:t>    for (int i = nDigits - 1; i &gt;= 0; i--) {</a:t>
            </a:r>
            <a:br/>
            <a:r>
              <a:t>        int d = cardNo.charAt(i) - '0';</a:t>
            </a:r>
            <a:br/>
            <a:r>
              <a:t>        if (isSecond == true) d = d * 2;</a:t>
            </a:r>
            <a:br/>
            <a:r>
              <a:t>        nSum += d / 10;</a:t>
            </a:r>
            <a:br/>
            <a:r>
              <a:t>        nSum += d % 10;</a:t>
            </a:r>
            <a:br/>
            <a:r>
              <a:t>        isSecond = !isSecond;</a:t>
            </a:r>
            <a:br/>
            <a:r>
              <a:t>    }</a:t>
            </a:r>
            <a:br/>
            <a:r>
              <a:t>    return (nSum % 10 == 0);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E4B363"/>
                </a:solidFill>
              </a:defRPr>
            </a:pPr>
            <a:r>
              <a:t>CORE JAVA IMPL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Luhn Check Algorithm</a:t>
            </a:r>
            <a:br/>
            <a:r>
              <a:rPr b="0">
                <a:solidFill>
                  <a:srgbClr val="AAAAAA"/>
                </a:solidFill>
              </a:rPr>
              <a:t>Executes mod-10 double-every-second digit sum validations on inputs to prevent fake/invalid card numbers.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OOP Encapsulation Pattern</a:t>
            </a:r>
            <a:br/>
            <a:r>
              <a:rPr b="0">
                <a:solidFill>
                  <a:srgbClr val="AAAAAA"/>
                </a:solidFill>
              </a:rPr>
              <a:t>Strictly keeps attributes private, accessing them via clean getter/setter objects to block arbitrary edits.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ArrayList Allocation</a:t>
            </a:r>
            <a:br/>
            <a:r>
              <a:rPr b="0">
                <a:solidFill>
                  <a:srgbClr val="AAAAAA"/>
                </a:solidFill>
              </a:rPr>
              <a:t>Stores validated instances to memory dynamically, mapping object heap locations to logs.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File System Logging</a:t>
            </a:r>
            <a:br/>
            <a:r>
              <a:rPr b="0">
                <a:solidFill>
                  <a:srgbClr val="AAAAAA"/>
                </a:solidFill>
              </a:rPr>
              <a:t>Streams logs out to cards.dat on disk using Java's BufferedWriter class, securing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Focus: Python Audit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E4B363"/>
                </a:solidFill>
              </a:defRPr>
            </a:pPr>
            <a:r>
              <a:t>AUDIT SPECIFICATION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Polymorphic Abstract Structure</a:t>
            </a:r>
            <a:br/>
            <a:r>
              <a:rPr b="0">
                <a:solidFill>
                  <a:srgbClr val="AAAAAA"/>
                </a:solidFill>
              </a:rPr>
              <a:t>Utilizes abstract classes defining baseline check functions. Concrete sub-classes overwrite checking parameters.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Entropy &amp; Pattern Scanning</a:t>
            </a:r>
            <a:br/>
            <a:r>
              <a:rPr b="0">
                <a:solidFill>
                  <a:srgbClr val="AAAAAA"/>
                </a:solidFill>
              </a:rPr>
              <a:t>Applies regular expressions to scan passwords for repeated sequences, length rules, and character sets.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Matplotlib Graph Generation</a:t>
            </a:r>
            <a:br/>
            <a:r>
              <a:rPr b="0">
                <a:solidFill>
                  <a:srgbClr val="AAAAAA"/>
                </a:solidFill>
              </a:rPr>
              <a:t>Saves audit results and vulnerability scores as a bar chart, saving a PNG which is rendered in the app's HTML canvas.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E4B363"/>
                </a:solidFill>
              </a:defRPr>
            </a:pPr>
            <a:r>
              <a:t>ABSTRACT AUDITING ENGINE</a:t>
            </a:r>
          </a:p>
          <a:p>
            <a:pPr>
              <a:defRPr sz="1100">
                <a:solidFill>
                  <a:srgbClr val="F0F0F0"/>
                </a:solidFill>
                <a:latin typeface="Courier New"/>
              </a:defRPr>
            </a:pPr>
            <a:r>
              <a:t>from abc import ABC, abstractmethod</a:t>
            </a:r>
            <a:br/>
            <a:br/>
            <a:r>
              <a:t>class PasswordCheck(ABC):</a:t>
            </a:r>
            <a:br/>
            <a:r>
              <a:t>    @abstractmethod</a:t>
            </a:r>
            <a:br/>
            <a:r>
              <a:t>    def validate(self, pwd: str) -&gt; bool:</a:t>
            </a:r>
            <a:br/>
            <a:r>
              <a:t>        pass</a:t>
            </a:r>
            <a:br/>
            <a:br/>
            <a:r>
              <a:t>class LengthCheck(PasswordCheck):</a:t>
            </a:r>
            <a:br/>
            <a:r>
              <a:t>    def validate(self, pwd: str) -&gt; bool:</a:t>
            </a:r>
            <a:br/>
            <a:r>
              <a:t>        return len(pwd) &gt;= 8</a:t>
            </a:r>
            <a:br/>
            <a:br/>
            <a:r>
              <a:t>class ComplexityCheck(PasswordCheck):</a:t>
            </a:r>
            <a:br/>
            <a:r>
              <a:t>    def validate(self, pwd: str) -&gt; bool:</a:t>
            </a:r>
            <a:br/>
            <a:r>
              <a:t>        # RegEx checks for lower/upper/digit/special</a:t>
            </a:r>
            <a:br/>
            <a:r>
              <a:t>        return bool(re.search(r'[A-Z]', pwd))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Application Features &amp; Interface Designs</a:t>
            </a:r>
          </a:p>
        </p:txBody>
      </p:sp>
      <p:pic>
        <p:nvPicPr>
          <p:cNvPr id="4" name="Picture 3" descr="01_home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2468880" cy="1543050"/>
          </a:xfrm>
          <a:prstGeom prst="rect">
            <a:avLst/>
          </a:prstGeom>
        </p:spPr>
      </p:pic>
      <p:pic>
        <p:nvPicPr>
          <p:cNvPr id="5" name="Picture 4" descr="05_seat_map_selected_recomme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645920"/>
            <a:ext cx="2468880" cy="1543050"/>
          </a:xfrm>
          <a:prstGeom prst="rect">
            <a:avLst/>
          </a:prstGeom>
        </p:spPr>
      </p:pic>
      <p:pic>
        <p:nvPicPr>
          <p:cNvPr id="6" name="Picture 5" descr="13_ticket_3d_modal_unscann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2468880" cy="1543050"/>
          </a:xfrm>
          <a:prstGeom prst="rect">
            <a:avLst/>
          </a:prstGeom>
        </p:spPr>
      </p:pic>
      <p:pic>
        <p:nvPicPr>
          <p:cNvPr id="7" name="Picture 6" descr="16_python_audit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931920"/>
            <a:ext cx="2468880" cy="1543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E4B363"/>
                </a:solidFill>
              </a:defRPr>
            </a:pPr>
            <a:r>
              <a:t>CORE USER CAPABILITIES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Home &amp; Showtime Selector</a:t>
            </a:r>
            <a:br/>
            <a:r>
              <a:rPr b="0">
                <a:solidFill>
                  <a:srgbClr val="AAAAAA"/>
                </a:solidFill>
              </a:rPr>
              <a:t>Frosted glass visual layouts dynamically loading show details. Responsive grids align items smoothly.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3D Curved Seating Map</a:t>
            </a:r>
            <a:br/>
            <a:r>
              <a:rPr b="0">
                <a:solidFill>
                  <a:srgbClr val="AAAAAA"/>
                </a:solidFill>
              </a:rPr>
              <a:t>Interactive seats mapped to custom hooks. Visualizes selected seats, recommended paths, and price categories.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Parallax 3D Ticket Modal</a:t>
            </a:r>
            <a:br/>
            <a:r>
              <a:rPr b="0">
                <a:solidFill>
                  <a:srgbClr val="AAAAAA"/>
                </a:solidFill>
              </a:rPr>
              <a:t>Features responsive card tilts. Users can hover to examine validation details and click to verify QR passes.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b="1" sz="1200">
                <a:solidFill>
                  <a:srgbClr val="FFFFFF"/>
                </a:solidFill>
              </a:defRPr>
            </a:pPr>
            <a:r>
              <a:t>• Password Auditing Dashboard</a:t>
            </a:r>
            <a:br/>
            <a:r>
              <a:rPr b="0">
                <a:solidFill>
                  <a:srgbClr val="AAAAAA"/>
                </a:solidFill>
              </a:rPr>
              <a:t>Simulates server security terminal overlays. Computes entropy levels and compiles charts of weak 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Technical Challenges &amp; Engineering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E4B363"/>
                </a:solidFill>
              </a:defRPr>
            </a:pPr>
            <a:r>
              <a:t>ENGINEERING MITIGATIONS</a:t>
            </a:r>
          </a:p>
          <a:p>
            <a:pPr>
              <a:spcAft>
                <a:spcPts val="1400"/>
              </a:spcAft>
              <a:defRPr b="1" sz="1250">
                <a:solidFill>
                  <a:srgbClr val="FFFFFF"/>
                </a:solidFill>
              </a:defRPr>
            </a:pPr>
            <a:r>
              <a:t>• Double-Booking Race Condition</a:t>
            </a:r>
            <a:br/>
            <a:r>
              <a:rPr b="0" sz="1150">
                <a:solidFill>
                  <a:srgbClr val="AAAAAA"/>
                </a:solidFill>
              </a:rPr>
              <a:t>Challenge: Simultaneous booking attempts by multiple user contexts created double-booking conflicts.
Mitigation: Implemented Mutex seating locks. Thread-0 acquires validation limits via Java synchronized blocks, preventing multi-user overlaps.</a:t>
            </a:r>
          </a:p>
          <a:p>
            <a:pPr>
              <a:spcAft>
                <a:spcPts val="1400"/>
              </a:spcAft>
              <a:defRPr b="1" sz="1250">
                <a:solidFill>
                  <a:srgbClr val="FFFFFF"/>
                </a:solidFill>
              </a:defRPr>
            </a:pPr>
            <a:r>
              <a:t>• React-Vue Interoperability</a:t>
            </a:r>
            <a:br/>
            <a:r>
              <a:rPr b="0" sz="1150">
                <a:solidFill>
                  <a:srgbClr val="AAAAAA"/>
                </a:solidFill>
              </a:rPr>
              <a:t>Challenge: Mounting independent reactive frameworks side-by-side inside DOM trees produced component lifecycle collisions.
Mitigation: Managed DOM wrappers with React useRef and loaded Vue apps inside useEffect hooks. Cleaned memory caches on component unmounting.</a:t>
            </a:r>
          </a:p>
          <a:p>
            <a:pPr>
              <a:spcAft>
                <a:spcPts val="1400"/>
              </a:spcAft>
              <a:defRPr b="1" sz="1250">
                <a:solidFill>
                  <a:srgbClr val="FFFFFF"/>
                </a:solidFill>
              </a:defRPr>
            </a:pPr>
            <a:r>
              <a:t>• Validation Exception Propagation</a:t>
            </a:r>
            <a:br/>
            <a:r>
              <a:rPr b="0" sz="1150">
                <a:solidFill>
                  <a:srgbClr val="AAAAAA"/>
                </a:solidFill>
              </a:rPr>
              <a:t>Challenge: Formatting errors in deep class libraries failed to notify frontend layers.
Mitigation: Structured custom exceptions that trace errors to sideboards, displaying error logs directly in client consoles.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E4B363"/>
                </a:solidFill>
                <a:latin typeface="Arial"/>
              </a:defRPr>
            </a:pPr>
            <a:r>
              <a:t>CINEBOOK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b="1" sz="1400">
                <a:solidFill>
                  <a:srgbClr val="E4B363"/>
                </a:solidFill>
              </a:defRPr>
            </a:pPr>
            <a:r>
              <a:t>CORE INTERNSHIP LEARNINGS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Software Engineering Design</a:t>
            </a:r>
            <a:br/>
            <a:r>
              <a:rPr b="0">
                <a:solidFill>
                  <a:srgbClr val="AAAAAA"/>
                </a:solidFill>
              </a:rPr>
              <a:t>Learned how to split responsibilities across independent, specialized layers (Web UI, Security logic, and Auditor modules).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Cross-Framework Integration</a:t>
            </a:r>
            <a:br/>
            <a:r>
              <a:rPr b="0">
                <a:solidFill>
                  <a:srgbClr val="AAAAAA"/>
                </a:solidFill>
              </a:rPr>
              <a:t>Gained deep understanding of DOM lifecycles by mounting, bridging, and cleaning memory parameters between React and Vue.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Robust OOP &amp; Concurrency</a:t>
            </a:r>
            <a:br/>
            <a:r>
              <a:rPr b="0">
                <a:solidFill>
                  <a:srgbClr val="AAAAAA"/>
                </a:solidFill>
              </a:rPr>
              <a:t>Gained practical experience using Java synchronized locks, encapsulation patterns, custom exception structures, and list serialization.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b="1" sz="1200">
                <a:solidFill>
                  <a:srgbClr val="FFFFFF"/>
                </a:solidFill>
              </a:defRPr>
            </a:pPr>
            <a:r>
              <a:t>• AI-Assisted Prompting Flow</a:t>
            </a:r>
            <a:br/>
            <a:r>
              <a:rPr b="0">
                <a:solidFill>
                  <a:srgbClr val="AAAAAA"/>
                </a:solidFill>
              </a:rPr>
              <a:t>Learned to leverage prompt engineering techniques to draft mock parameters, speed up debugging, and format logs.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0"/>
              </a:spcAft>
              <a:defRPr b="1" sz="1400">
                <a:solidFill>
                  <a:srgbClr val="E4B363"/>
                </a:solidFill>
              </a:defRPr>
            </a:pPr>
            <a:r>
              <a:t>QUESTIONS &amp; ANSWERS</a:t>
            </a:r>
          </a:p>
          <a:p>
            <a:pPr>
              <a:spcAft>
                <a:spcPts val="1200"/>
              </a:spcAft>
              <a:defRPr b="1" sz="3600">
                <a:solidFill>
                  <a:srgbClr val="FFFFFF"/>
                </a:solidFill>
              </a:defRPr>
            </a:pPr>
            <a:r>
              <a:t>Thank You.</a:t>
            </a:r>
          </a:p>
          <a:p>
            <a:pPr>
              <a:defRPr sz="1300">
                <a:solidFill>
                  <a:srgbClr val="C8C8C8"/>
                </a:solidFill>
              </a:defRPr>
            </a:pPr>
            <a:r>
              <a:t>Feel free to ask any technical questions regarding the hybrid architecture, card check validations, password auditing algorithms, or prompt engineering methods.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